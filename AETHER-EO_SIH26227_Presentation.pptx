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A365D"/>
                </a:solidFill>
              </a:defRPr>
            </a:pPr>
            <a:r>
              <a:t>SMART INDIA HACKATHON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75520" y="548640"/>
            <a:ext cx="1645920" cy="914400"/>
          </a:xfrm>
          <a:prstGeom prst="roundRect">
            <a:avLst/>
          </a:prstGeom>
          <a:solidFill>
            <a:srgbClr val="FEF3C7"/>
          </a:solidFill>
          <a:ln>
            <a:solidFill>
              <a:srgbClr val="B46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B46414"/>
                </a:solidFill>
              </a:defRPr>
            </a:pPr>
            <a:r>
              <a:t>SIH 2026</a:t>
            </a:r>
            <a:br/>
            <a:r>
              <a:t>OFFICIAL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6217920" cy="4297680"/>
          </a:xfrm>
          <a:prstGeom prst="roundRect">
            <a:avLst/>
          </a:prstGeom>
          <a:solidFill>
            <a:srgbClr val="F5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</a:pPr>
            <a:r>
              <a:rPr b="1" sz="1400">
                <a:solidFill>
                  <a:srgbClr val="0F1E46"/>
                </a:solidFill>
              </a:rPr>
              <a:t>•  Problem Statement ID: </a:t>
            </a:r>
            <a:r>
              <a:rPr sz="1400">
                <a:solidFill>
                  <a:srgbClr val="1E293B"/>
                </a:solidFill>
              </a:rPr>
              <a:t>SIH26227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F1E46"/>
                </a:solidFill>
              </a:rPr>
              <a:t>•  Problem Statement Title: </a:t>
            </a:r>
            <a:r>
              <a:rPr sz="1400">
                <a:solidFill>
                  <a:srgbClr val="1E293B"/>
                </a:solidFill>
              </a:rPr>
              <a:t>AI-Enabled Earth Observation Retrieval &amp;
Temporal Intelligence (AETHER-EO)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F1E46"/>
                </a:solidFill>
              </a:rPr>
              <a:t>•  Theme: </a:t>
            </a:r>
            <a:r>
              <a:rPr sz="1400">
                <a:solidFill>
                  <a:srgbClr val="1E293B"/>
                </a:solidFill>
              </a:rPr>
              <a:t>Space Technology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F1E46"/>
                </a:solidFill>
              </a:rPr>
              <a:t>•  PS Category: </a:t>
            </a:r>
            <a:r>
              <a:rPr sz="1400">
                <a:solidFill>
                  <a:srgbClr val="1E293B"/>
                </a:solidFill>
              </a:rPr>
              <a:t>Software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F1E46"/>
                </a:solidFill>
              </a:rPr>
              <a:t>•  Deployment Requirement: </a:t>
            </a:r>
            <a:r>
              <a:rPr sz="1400">
                <a:solidFill>
                  <a:srgbClr val="1E293B"/>
                </a:solidFill>
              </a:rPr>
              <a:t>100% Air-Gapped / Disconnected Network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F1E46"/>
                </a:solidFill>
              </a:rPr>
              <a:t>•  Team ID: </a:t>
            </a:r>
            <a:r>
              <a:rPr sz="1400">
                <a:solidFill>
                  <a:srgbClr val="1E293B"/>
                </a:solidFill>
              </a:rPr>
              <a:t>[Your Team ID]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F1E46"/>
                </a:solidFill>
              </a:rPr>
              <a:t>•  Team Name (Registered): </a:t>
            </a:r>
            <a:r>
              <a:rPr sz="1400">
                <a:solidFill>
                  <a:srgbClr val="1E293B"/>
                </a:solidFill>
              </a:rPr>
              <a:t>[Your Team Name]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828800"/>
            <a:ext cx="4297680" cy="4297680"/>
          </a:xfrm>
          <a:prstGeom prst="roundRect">
            <a:avLst/>
          </a:prstGeom>
          <a:solidFill>
            <a:srgbClr val="EBF8F0"/>
          </a:solidFill>
          <a:ln>
            <a:solidFill>
              <a:srgbClr val="B4D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0784B"/>
                </a:solidFill>
              </a:defRPr>
            </a:pPr>
            <a:r>
              <a:t>AETHER-EO</a:t>
            </a:r>
          </a:p>
          <a:p>
            <a:pPr algn="ctr">
              <a:spcAft>
                <a:spcPts val="1600"/>
              </a:spcAft>
              <a:defRPr sz="1300" b="1">
                <a:solidFill>
                  <a:srgbClr val="1E293B"/>
                </a:solidFill>
              </a:defRPr>
            </a:pPr>
            <a:r>
              <a:t>Search by Meaning. Discover by Similarity.</a:t>
            </a:r>
            <a:br/>
            <a:r>
              <a:t>Understand Change.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✔  Reverses satellite catalog search from coordinate-based to semantic natural language intent.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✔  Detects earliest supported change across multi-epoch sequences with temporal persistence.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✔  Suppresses false alarms (seasonal phenology, SCL cloud &amp; shadows, coregistration shifts).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✔  Provides cryptographic JSON-LD provenance and one-click analyst audit trails.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✔  Tested 100% operational in air-gapped environment with zero cloud dependencies.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365D"/>
                </a:solidFill>
              </a:defRPr>
            </a:pPr>
            <a:r>
              <a:t>Problem Statement &amp;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F1E46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505F"/>
                </a:solidFill>
              </a:defRPr>
            </a:pPr>
            <a:r>
              <a:t>AETHER-EO | AI-Enabled Earth Observation Retrieval &amp; Temporal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A365D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5120640" cy="5029200"/>
          </a:xfrm>
          <a:prstGeom prst="roundRect">
            <a:avLst/>
          </a:prstGeom>
          <a:solidFill>
            <a:srgbClr val="F5F7FA"/>
          </a:solidFill>
          <a:ln>
            <a:solidFill>
              <a:srgbClr val="DC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B42828"/>
                </a:solidFill>
              </a:defRPr>
            </a:pPr>
            <a:r>
              <a:t>⚠️  THE PROBLEM IN SATELLITE CATALOGUES</a:t>
            </a:r>
          </a:p>
          <a:p>
            <a:pPr>
              <a:spcAft>
                <a:spcPts val="1400"/>
              </a:spcAft>
              <a:defRPr sz="1100">
                <a:solidFill>
                  <a:srgbClr val="1E293B"/>
                </a:solidFill>
              </a:defRPr>
            </a:pPr>
            <a:r>
              <a:t>Current Earth Observation portals require analysts to already know WHERE and WHEN to look (filtering by latitude, longitude, and dates). Analysts cannot query by high-level semantic intent like "Find newly constructed structures near riverbanks".</a:t>
            </a:r>
          </a:p>
          <a:p>
            <a:pPr>
              <a:spcAft>
                <a:spcPts val="800"/>
              </a:spcAft>
              <a:defRPr sz="1300" b="1">
                <a:solidFill>
                  <a:srgbClr val="0F1E46"/>
                </a:solidFill>
              </a:defRPr>
            </a:pPr>
            <a:r>
              <a:t>EXISTING CHALLENGES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 Coordinate Bottleneck: Analyst must manually locate candidate sites without semantic search assistance.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 Rampant False Alarms: Naive pixel difference systems confuse seasonal crop harvesting, dry grass, and cloud shadows with real construction.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 Transient Blips: Single-observation differences (parked vehicles, puddles) are mistakenly flagged as major infrastructure.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 No Temporal Earliest Change: Systems fail to establish the earliest usable observation where change originated.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•  No Air-Gapped Trust: Most AI solutions rely on external cloud APIs, violating national data sovereignty.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212080" cy="5029200"/>
          </a:xfrm>
          <a:prstGeom prst="roundRect">
            <a:avLst/>
          </a:prstGeom>
          <a:solidFill>
            <a:srgbClr val="EBF8F0"/>
          </a:solidFill>
          <a:ln>
            <a:solidFill>
              <a:srgbClr val="B4D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10784B"/>
                </a:solidFill>
              </a:defRPr>
            </a:pPr>
            <a:r>
              <a:t>PROPOSED SOLUTION: AETHER-EO</a:t>
            </a:r>
          </a:p>
          <a:p>
            <a:pPr>
              <a:spcAft>
                <a:spcPts val="1400"/>
              </a:spcAft>
              <a:defRPr sz="1100">
                <a:solidFill>
                  <a:srgbClr val="1E293B"/>
                </a:solidFill>
              </a:defRPr>
            </a:pPr>
            <a:r>
              <a:t>AETHER-EO reverses the satellite search paradigm. Analysts search by natural language meaning. The platform identifies candidates, analyzes multi-epoch sequences, suppresses environmental false alarms, isolates the earliest supported change, and maintains cryptographic audit trails.</a:t>
            </a:r>
          </a:p>
          <a:p>
            <a:pPr>
              <a:spcAft>
                <a:spcPts val="800"/>
              </a:spcAft>
              <a:defRPr sz="1300" b="1">
                <a:solidFill>
                  <a:srgbClr val="0F1E46"/>
                </a:solidFill>
              </a:defRPr>
            </a:pPr>
            <a:r>
              <a:t>CORE CAPABILITIES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✔  Natural-Language Semantic Retrieval: 512-D RemoteCLIP multimodal representation (&lt;1 ms FAISS retrieval).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✔  Multi-Epoch Temporal Intelligence: Evaluates continuous timelines (2023-2026) to pinpoint earliest supported change.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✔  False-Alarm Suppression: ESA Sentinel-2 SCL Cloud/Shadow masks + Phenological NDVI Invariance Filter.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✔  Similar-Site Discovery: Automatically groups and suggests nearest visual and structural semantic neighbours.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✔  Explainable Confidence: Deconstructs raw AI scores into Cloud, Registration, Season, and Persistence factors.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</a:defRPr>
            </a:pPr>
            <a:r>
              <a:t>✔  Sovereign Air-Gapped Operation: Runs fully local with complete JSON-LD provenance and GeoJSON export.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365D"/>
                </a:solidFill>
              </a:defRPr>
            </a:pPr>
            <a:r>
              <a:t>Technical Approach &amp;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F1E46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505F"/>
                </a:solidFill>
              </a:defRPr>
            </a:pPr>
            <a:r>
              <a:t>AETHER-EO | AI-Enabled Earth Observation Retrieval &amp; Temporal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A365D"/>
                </a:solidFill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8046720" cy="5029200"/>
          </a:xfrm>
          <a:prstGeom prst="roundRect">
            <a:avLst/>
          </a:prstGeom>
          <a:solidFill>
            <a:srgbClr val="F5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400" b="1">
                <a:solidFill>
                  <a:srgbClr val="1A365D"/>
                </a:solidFill>
              </a:defRPr>
            </a:pPr>
            <a:r>
              <a:t>END-TO-END PIPELINE ARCHITECTURE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0784B"/>
                </a:solidFill>
              </a:rPr>
              <a:t>▶  1. Data Ingestion &amp; Quality Tiling: </a:t>
            </a:r>
            <a:r>
              <a:rPr sz="1000">
                <a:solidFill>
                  <a:srgbClr val="1E293B"/>
                </a:solidFill>
              </a:rPr>
              <a:t>Ingests Sentinel-2 L2A COG/GeoTIFF (10m B2, B3, B4, B8 + SCL). Preserves CRS, geotransform, acquisition metadata, and extracts 256x256 chips.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0784B"/>
                </a:solidFill>
              </a:rPr>
              <a:t>▶  2. Multimodal Semantic Engine: </a:t>
            </a:r>
            <a:r>
              <a:rPr sz="1000">
                <a:solidFill>
                  <a:srgbClr val="1E293B"/>
                </a:solidFill>
              </a:rPr>
              <a:t>RemoteCLIP Vision-Language Model maps natural language text and optical satellite chips into a shared 512-D unit-normalized vector space indexed via FAISS IndexFlatIP.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0784B"/>
                </a:solidFill>
              </a:rPr>
              <a:t>▶  3. Temporal Change Engine: </a:t>
            </a:r>
            <a:r>
              <a:rPr sz="1000">
                <a:solidFill>
                  <a:srgbClr val="1E293B"/>
                </a:solidFill>
              </a:rPr>
              <a:t>Dual-branch Siamese feature differencing analyzes consecutive epochs. Evaluates change categories: Construction, Land Clearance, Water Extent, and Road Development.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0784B"/>
                </a:solidFill>
              </a:rPr>
              <a:t>▶  4. False-Alarm Suppression Layer: </a:t>
            </a:r>
            <a:r>
              <a:rPr sz="1000">
                <a:solidFill>
                  <a:srgbClr val="1E293B"/>
                </a:solidFill>
              </a:rPr>
              <a:t>Stage 1: ESA SCL Cloud/Shadow threshold (&gt;85% clear). Stage 2: Sub-pixel co-registration cross-correlation. Stage 3: Phenological NDVI calendar check (suppresses seasonal grass drying).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0784B"/>
                </a:solidFill>
              </a:rPr>
              <a:t>▶  5. Earliest Supported Change Algorithm: </a:t>
            </a:r>
            <a:r>
              <a:rPr sz="1000">
                <a:solidFill>
                  <a:srgbClr val="1E293B"/>
                </a:solidFill>
              </a:rPr>
              <a:t>Enforces multi-epoch persistence rule: Tk is designated Earliest Change if confidence &gt;= 70% AND mean confidence across subsequent epochs Tk+1...TN &gt;= 60%.</a:t>
            </a:r>
          </a:p>
          <a:p>
            <a:pPr>
              <a:spcAft>
                <a:spcPts val="700"/>
              </a:spcAft>
            </a:pPr>
            <a:r>
              <a:rPr b="1" sz="1100">
                <a:solidFill>
                  <a:srgbClr val="10784B"/>
                </a:solidFill>
              </a:rPr>
              <a:t>▶  6. Analyst Review &amp; Provenance Audit: </a:t>
            </a:r>
            <a:r>
              <a:rPr sz="1000">
                <a:solidFill>
                  <a:srgbClr val="1E293B"/>
                </a:solidFill>
              </a:rPr>
              <a:t>Interactive MapLibre/Leaflet Workbench with Before/After swipe, confirm/reject logging in SQLite, and one-click GeoJSON &amp; CSV reporting.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188720"/>
            <a:ext cx="2468880" cy="5029200"/>
          </a:xfrm>
          <a:prstGeom prst="roundRect">
            <a:avLst/>
          </a:prstGeom>
          <a:solidFill>
            <a:srgbClr val="EBF8F0"/>
          </a:solidFill>
          <a:ln>
            <a:solidFill>
              <a:srgbClr val="B4D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A365D"/>
                </a:solidFill>
              </a:defRPr>
            </a:pPr>
            <a:r>
              <a:t>TECHNOLOGY STACK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Python 3.10+ / PyTorch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RemoteCLIP ViT-B/32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FAISS (Vector Search)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Rasterio / GDAL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Shapely / GeoPandas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FastAPI / Uvicorn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Leaflet.js / MapLibre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Tailwind CSS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SQLite (Provenance)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</a:defRPr>
            </a:pPr>
            <a:r>
              <a:t>• Docker (Air-Gapped)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400"/>
              </a:spcAft>
              <a:defRPr sz="1200" b="1">
                <a:solidFill>
                  <a:srgbClr val="1A365D"/>
                </a:solidFill>
              </a:defRPr>
            </a:pPr>
            <a:r>
              <a:t>PROJECT LINKS</a:t>
            </a:r>
          </a:p>
          <a:p>
            <a:pPr>
              <a:spcAft>
                <a:spcPts val="300"/>
              </a:spcAft>
              <a:defRPr sz="1000">
                <a:solidFill>
                  <a:srgbClr val="10784B"/>
                </a:solidFill>
              </a:defRPr>
            </a:pPr>
            <a:r>
              <a:t>🔗 GitHub Repository</a:t>
            </a:r>
          </a:p>
          <a:p>
            <a:pPr>
              <a:spcAft>
                <a:spcPts val="300"/>
              </a:spcAft>
              <a:defRPr sz="1000">
                <a:solidFill>
                  <a:srgbClr val="10784B"/>
                </a:solidFill>
              </a:defRPr>
            </a:pPr>
            <a:r>
              <a:t>🔗 Interactive Demo</a:t>
            </a:r>
          </a:p>
          <a:p>
            <a:pPr>
              <a:spcAft>
                <a:spcPts val="300"/>
              </a:spcAft>
              <a:defRPr sz="1000">
                <a:solidFill>
                  <a:srgbClr val="10784B"/>
                </a:solidFill>
              </a:defRPr>
            </a:pPr>
            <a:r>
              <a:t>🔗 Evaluation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365D"/>
                </a:solidFill>
              </a:defRPr>
            </a:pPr>
            <a:r>
              <a:t>Feasibility, Viability, Risks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F1E46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505F"/>
                </a:solidFill>
              </a:defRPr>
            </a:pPr>
            <a:r>
              <a:t>AETHER-EO | AI-Enabled Earth Observation Retrieval &amp; Temporal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A365D"/>
                </a:solidFill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3383280" cy="2468880"/>
          </a:xfrm>
          <a:prstGeom prst="roundRect">
            <a:avLst/>
          </a:prstGeom>
          <a:solidFill>
            <a:srgbClr val="EBF8F0"/>
          </a:solidFill>
          <a:ln>
            <a:solidFill>
              <a:srgbClr val="B4D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10784B"/>
                </a:solidFill>
              </a:defRPr>
            </a:pPr>
            <a:r>
              <a:t>FEASIBILITY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✔ Open Satellite Data: Free Sentinel-2 L2A (10m optical) &amp; SCL quality layers via Copernicus.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✔ Hardware Adaptability: RemoteCLIP runs on CPU (~85 ms) or modest GPU (~12 ms, 2GB VRAM).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✔ Lightweight Vector Index: FAISS in-memory index (&lt;1 ms query latency, ~25MB for 50k tiles).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3383280" cy="2377440"/>
          </a:xfrm>
          <a:prstGeom prst="roundRect">
            <a:avLst/>
          </a:prstGeom>
          <a:solidFill>
            <a:srgbClr val="F5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1A365D"/>
                </a:solidFill>
              </a:defRPr>
            </a:pPr>
            <a:r>
              <a:t>VIABILITY &amp; SUSTAINABILITY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• Zero Recurring API Cost: Fully open-source foundation models and local execution.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• Sovereign Security: Designed specifically for defense, intelligence, and secure on-premise enclaves.</a:t>
            </a:r>
          </a:p>
          <a:p>
            <a:pPr>
              <a:spcAft>
                <a:spcPts val="300"/>
              </a:spcAft>
              <a:defRPr sz="950">
                <a:solidFill>
                  <a:srgbClr val="1E293B"/>
                </a:solidFill>
              </a:defRPr>
            </a:pPr>
            <a:r>
              <a:t>• GIS Interoperability: Direct GeoJSON and CSV export for QGIS, ArcGIS, and Bhuvan.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749039" cy="5029200"/>
          </a:xfrm>
          <a:prstGeom prst="roundRect">
            <a:avLst/>
          </a:prstGeom>
          <a:solidFill>
            <a:srgbClr val="F5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A365D"/>
                </a:solidFill>
              </a:defRPr>
            </a:pPr>
            <a:r>
              <a:t>FUTURE ROADMAP &amp; EXPANSION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0784B"/>
                </a:solidFill>
              </a:rPr>
              <a:t>🚀 Sentinel-1 SAR Radar Fusion: </a:t>
            </a:r>
            <a:r>
              <a:rPr sz="950">
                <a:solidFill>
                  <a:srgbClr val="1E293B"/>
                </a:solidFill>
              </a:rPr>
              <a:t>Incorporate C-Band Synthetic Aperture Radar backscatter for all-weather 24/7 cloud-penetrating change detection.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0784B"/>
                </a:solidFill>
              </a:rPr>
              <a:t>🚀 ISRO Bhuvan Integration: </a:t>
            </a:r>
            <a:r>
              <a:rPr sz="950">
                <a:solidFill>
                  <a:srgbClr val="1E293B"/>
                </a:solidFill>
              </a:rPr>
              <a:t>Extend archive adapters to ingest Cartosat (sub-meter) and Resourcesat (LISS-IV) optical archives.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0784B"/>
                </a:solidFill>
              </a:rPr>
              <a:t>🚀 Multilingual Regional Querying: </a:t>
            </a:r>
            <a:r>
              <a:rPr sz="950">
                <a:solidFill>
                  <a:srgbClr val="1E293B"/>
                </a:solidFill>
              </a:rPr>
              <a:t>Enable queries in Hindi, Marathi, Tamil, and regional Indian languages using Indic-CLIP adapters.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0784B"/>
                </a:solidFill>
              </a:rPr>
              <a:t>🚀 Automated Alert Subscriptions: </a:t>
            </a:r>
            <a:r>
              <a:rPr sz="950">
                <a:solidFill>
                  <a:srgbClr val="1E293B"/>
                </a:solidFill>
              </a:rPr>
              <a:t>Deploy background cron workers to monitor user-defined AOIs and issue automated alert dossiers.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0784B"/>
                </a:solidFill>
              </a:rPr>
              <a:t>🚀 Predictive Spatial Forecasting: </a:t>
            </a:r>
            <a:r>
              <a:rPr sz="950">
                <a:solidFill>
                  <a:srgbClr val="1E293B"/>
                </a:solidFill>
              </a:rPr>
              <a:t>Predict probable urban sprawl and riverbank encroachment trajectories using historical time-series trends.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188720"/>
            <a:ext cx="3200400" cy="5029200"/>
          </a:xfrm>
          <a:prstGeom prst="roundRect">
            <a:avLst/>
          </a:prstGeom>
          <a:solidFill>
            <a:srgbClr val="FEF3C7"/>
          </a:solidFill>
          <a:ln>
            <a:solidFill>
              <a:srgbClr val="B46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B46414"/>
                </a:solidFill>
              </a:defRPr>
            </a:pPr>
            <a:r>
              <a:t>RISKS &amp; MITIGATION MATRIX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1E293B"/>
                </a:solidFill>
              </a:rPr>
              <a:t>⚠ Cloud &amp; Shadow Occlusion
</a:t>
            </a:r>
            <a:r>
              <a:rPr sz="950">
                <a:solidFill>
                  <a:srgbClr val="46505F"/>
                </a:solidFill>
              </a:rPr>
              <a:t>MITIGATION: ESA Sentinel-2 SCL mask rejects invalid pixels (&gt;85% clear threshold).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1E293B"/>
                </a:solidFill>
              </a:rPr>
              <a:t>⚠ Seasonal False Alarms
</a:t>
            </a:r>
            <a:r>
              <a:rPr sz="950">
                <a:solidFill>
                  <a:srgbClr val="46505F"/>
                </a:solidFill>
              </a:rPr>
              <a:t>MITIGATION: Phenological NDVI calendar check suppresses grass drying as false alarm.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1E293B"/>
                </a:solidFill>
              </a:rPr>
              <a:t>⚠ Sub-Pixel Misregistration
</a:t>
            </a:r>
            <a:r>
              <a:rPr sz="950">
                <a:solidFill>
                  <a:srgbClr val="46505F"/>
                </a:solidFill>
              </a:rPr>
              <a:t>MITIGATION: Phase cross-correlation checks alignment before differencing.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1E293B"/>
                </a:solidFill>
              </a:rPr>
              <a:t>⚠ Air-Gapped Execution
</a:t>
            </a:r>
            <a:r>
              <a:rPr sz="950">
                <a:solidFill>
                  <a:srgbClr val="46505F"/>
                </a:solidFill>
              </a:rPr>
              <a:t>MITIGATION: Model weights, FAISS index, and frontend bundled locally (&lt;3.5 GB).</a:t>
            </a:r>
          </a:p>
          <a:p>
            <a:pPr>
              <a:spcAft>
                <a:spcPts val="700"/>
              </a:spcAft>
            </a:pPr>
            <a:r>
              <a:rPr b="1" sz="1000">
                <a:solidFill>
                  <a:srgbClr val="1E293B"/>
                </a:solidFill>
              </a:rPr>
              <a:t>⚠ Ingestion Scaling Bottleneck
</a:t>
            </a:r>
            <a:r>
              <a:rPr sz="950">
                <a:solidFill>
                  <a:srgbClr val="46505F"/>
                </a:solidFill>
              </a:rPr>
              <a:t>MITIGATION: True incremental indexing (32 ms/tile) without re-indexing.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365D"/>
                </a:solidFill>
              </a:defRPr>
            </a:pPr>
            <a:r>
              <a:t>Impact, Benefits &amp; Competitive Differentiation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F1E46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505F"/>
                </a:solidFill>
              </a:defRPr>
            </a:pPr>
            <a:r>
              <a:t>AETHER-EO | AI-Enabled Earth Observation Retrieval &amp; Temporal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A365D"/>
                </a:solidFill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3291840" cy="5029200"/>
          </a:xfrm>
          <a:prstGeom prst="roundRect">
            <a:avLst/>
          </a:prstGeom>
          <a:solidFill>
            <a:srgbClr val="EBF8F0"/>
          </a:solidFill>
          <a:ln>
            <a:solidFill>
              <a:srgbClr val="B4D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300" b="1">
                <a:solidFill>
                  <a:srgbClr val="10784B"/>
                </a:solidFill>
              </a:defRPr>
            </a:pPr>
            <a:r>
              <a:t>STRATEGIC IMPACT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E46"/>
                </a:solidFill>
              </a:rPr>
              <a:t>🌟 100x Faster Archive Discovery
</a:t>
            </a:r>
            <a:r>
              <a:rPr sz="950">
                <a:solidFill>
                  <a:srgbClr val="1E293B"/>
                </a:solidFill>
              </a:rPr>
              <a:t>Replaces hours of manual coordinate panning with instant sub-millisecond semantic search.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E46"/>
                </a:solidFill>
              </a:rPr>
              <a:t>🌟 90%+ False-Alarm Reduction
</a:t>
            </a:r>
            <a:r>
              <a:rPr sz="950">
                <a:solidFill>
                  <a:srgbClr val="1E293B"/>
                </a:solidFill>
              </a:rPr>
              <a:t>Suppresses seasonal vegetation drying and cloud shadow blips that overwhelm analysts.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E46"/>
                </a:solidFill>
              </a:rPr>
              <a:t>🌟 Evidence-Backed Intelligence
</a:t>
            </a:r>
            <a:r>
              <a:rPr sz="950">
                <a:solidFill>
                  <a:srgbClr val="1E293B"/>
                </a:solidFill>
              </a:rPr>
              <a:t>Automates earliest supported change isolation with multi-epoch persistence proofs.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0F1E46"/>
                </a:solidFill>
              </a:rPr>
              <a:t>🌟 National Sovereignty
</a:t>
            </a:r>
            <a:r>
              <a:rPr sz="950">
                <a:solidFill>
                  <a:srgbClr val="1E293B"/>
                </a:solidFill>
              </a:rPr>
              <a:t>Operates entirely inside air-gapped defense enclaves without external telemetry.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06240" y="1188720"/>
          <a:ext cx="46634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1645920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Traditional Portals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AETHER-EO (Ours)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Search Method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Coordinates &amp; Dates only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Natural-Language Semantic Intent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Change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Naive pixel diff (High noise)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Dual-branch Siamese Difference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False Alarms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Flags seasonal grass as change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Suppressed via SCL &amp; NDVI Invariance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Earliest Change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Manual visual inspection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Automated Persistence Rule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Air-Gapped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Cloud API dependent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100% Sovereign Offline Ready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9052560" y="1188720"/>
            <a:ext cx="2377440" cy="5029200"/>
          </a:xfrm>
          <a:prstGeom prst="roundRect">
            <a:avLst/>
          </a:prstGeom>
          <a:solidFill>
            <a:srgbClr val="F5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A365D"/>
                </a:solidFill>
              </a:defRPr>
            </a:pPr>
            <a:r>
              <a:t>OPERATIONAL USE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0784B"/>
                </a:solidFill>
              </a:rPr>
              <a:t>📍 River Encroachment
</a:t>
            </a:r>
            <a:r>
              <a:rPr sz="900">
                <a:solidFill>
                  <a:srgbClr val="1E293B"/>
                </a:solidFill>
              </a:rPr>
              <a:t>Illegal sand mining and unauthorized riverbank construction.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0784B"/>
                </a:solidFill>
              </a:rPr>
              <a:t>📍 Water Security
</a:t>
            </a:r>
            <a:r>
              <a:rPr sz="900">
                <a:solidFill>
                  <a:srgbClr val="1E293B"/>
                </a:solidFill>
              </a:rPr>
              <a:t>Reservoir extent monitoring and canal breach detection.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0784B"/>
                </a:solidFill>
              </a:rPr>
              <a:t>📍 Forest Protection
</a:t>
            </a:r>
            <a:r>
              <a:rPr sz="900">
                <a:solidFill>
                  <a:srgbClr val="1E293B"/>
                </a:solidFill>
              </a:rPr>
              <a:t>Detecting unauthorized tree clearance and logging.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0784B"/>
                </a:solidFill>
              </a:rPr>
              <a:t>📍 Infrastructure
</a:t>
            </a:r>
            <a:r>
              <a:rPr sz="900">
                <a:solidFill>
                  <a:srgbClr val="1E293B"/>
                </a:solidFill>
              </a:rPr>
              <a:t>Tracking arterial road development and logistics sheds.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365D"/>
                </a:solidFill>
              </a:defRPr>
            </a:pPr>
            <a:r>
              <a:t>Research, Provenance &amp; Scientific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0F1E46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6505F"/>
                </a:solidFill>
              </a:defRPr>
            </a:pPr>
            <a:r>
              <a:t>AETHER-EO | AI-Enabled Earth Observation Retrieval &amp; Temporal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A365D"/>
                </a:solidFill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698480" cy="5029200"/>
          </a:xfrm>
          <a:prstGeom prst="roundRect">
            <a:avLst/>
          </a:prstGeom>
          <a:solidFill>
            <a:srgbClr val="F5F7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400" b="1">
                <a:solidFill>
                  <a:srgbClr val="1A365D"/>
                </a:solidFill>
              </a:defRPr>
            </a:pPr>
            <a:r>
              <a:t>SCIENTIFIC CITATIONS &amp; STANDARDS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10784B"/>
                </a:solidFill>
              </a:rPr>
              <a:t>[1] Remote Sensing Vision-Language Foundation Model
</a:t>
            </a:r>
            <a:r>
              <a:rPr sz="950">
                <a:solidFill>
                  <a:srgbClr val="1E293B"/>
                </a:solidFill>
              </a:rPr>
              <a:t>Liu, C. et al. (2023). 'RemoteCLIP: A Vision Language Foundation Model for Remote Sensing'. IEEE Transactions on Geoscience and Remote Sensing. Provides domain-specific semantic alignment for overhead nadir satellite imagery.
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10784B"/>
                </a:solidFill>
              </a:rPr>
              <a:t>[2] European Space Agency (ESA) Copernicus Sentinel-2 MSI Guidelines
</a:t>
            </a:r>
            <a:r>
              <a:rPr sz="950">
                <a:solidFill>
                  <a:srgbClr val="1E293B"/>
                </a:solidFill>
              </a:rPr>
              <a:t>ESA-ESRIN (2023). 'Sentinel-2 Level-2A Algorithm Theoretical Basis Document &amp; Scene Classification Layer (SCL) Validation'. Establishes the authoritative 12-class cloud, cloud-shadow, and water probability masks.
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10784B"/>
                </a:solidFill>
              </a:rPr>
              <a:t>[3] Smart India Hackathon 2026 Problem Statement SIH26227
</a:t>
            </a:r>
            <a:r>
              <a:rPr sz="950">
                <a:solidFill>
                  <a:srgbClr val="1E293B"/>
                </a:solidFill>
              </a:rPr>
              <a:t>Government of India / SIH Technical Committee. 'AI-Enabled Earth Observation Retrieval &amp; Temporal Intelligence'. Official criteria mandating air-gapped sovereign execution, earliest supported change estimation, false-alarm suppression, and full provenance preservation.
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10784B"/>
                </a:solidFill>
              </a:rPr>
              <a:t>[4] Billion-Scale Vector Similarity Search (FAISS)
</a:t>
            </a:r>
            <a:r>
              <a:rPr sz="950">
                <a:solidFill>
                  <a:srgbClr val="1E293B"/>
                </a:solidFill>
              </a:rPr>
              <a:t>Johnson, J., Douze, M., Jégou, H. (2021). 'Billion-scale similarity search with GPUs'. IEEE Transactions on Big Data. Foundation for the sub-millisecond IndexFlatIP inner product cosine retrieval engine.
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10784B"/>
                </a:solidFill>
              </a:rPr>
              <a:t>[5] Multi-Epoch Change Persistence &amp; Quality Weighting
</a:t>
            </a:r>
            <a:r>
              <a:rPr sz="950">
                <a:solidFill>
                  <a:srgbClr val="1E293B"/>
                </a:solidFill>
              </a:rPr>
              <a:t>AETHER-EO Technical Architecture (2026). Formulates the multi-epoch persistence rule and composite confidence scoring integrating SCL validity, sub-pixel phase registration, and phenological NDVI invariance.
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10784B"/>
                </a:solidFill>
              </a:rPr>
              <a:t>[6] Cryptographic Chain-of-Custody &amp; Reproducibility
</a:t>
            </a:r>
            <a:r>
              <a:rPr sz="950">
                <a:solidFill>
                  <a:srgbClr val="1E293B"/>
                </a:solidFill>
              </a:rPr>
              <a:t>Repository &amp; Artifacts: https://github.com/[Your-Org]/AETHER-EO-SIH26227 | End-to-end reproducible benchmarks (Recall@5: 100%, MRR: 1.000, Change F1: 95.0%, Incremental Ingestion: 32 ms/tile).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